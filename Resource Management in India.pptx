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8" r:id="rId7"/>
    <p:sldId id="263" r:id="rId8"/>
    <p:sldId id="262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473F0B-A8E5-4692-AAE7-9E63ACE14929}" v="5" dt="2026-03-28T13:39:05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a Pappusamy" userId="f3c2fbe79bd6fd85" providerId="LiveId" clId="{F80943F9-CA3C-40F6-B43F-51DCB45BFDD1}"/>
    <pc:docChg chg="custSel addSld modSld sldOrd">
      <pc:chgData name="Asha Pappusamy" userId="f3c2fbe79bd6fd85" providerId="LiveId" clId="{F80943F9-CA3C-40F6-B43F-51DCB45BFDD1}" dt="2026-03-28T13:41:24.460" v="198"/>
      <pc:docMkLst>
        <pc:docMk/>
      </pc:docMkLst>
      <pc:sldChg chg="modSp mod ord">
        <pc:chgData name="Asha Pappusamy" userId="f3c2fbe79bd6fd85" providerId="LiveId" clId="{F80943F9-CA3C-40F6-B43F-51DCB45BFDD1}" dt="2026-03-28T13:41:24.460" v="198"/>
        <pc:sldMkLst>
          <pc:docMk/>
          <pc:sldMk cId="1419116311" sldId="263"/>
        </pc:sldMkLst>
        <pc:spChg chg="mod">
          <ac:chgData name="Asha Pappusamy" userId="f3c2fbe79bd6fd85" providerId="LiveId" clId="{F80943F9-CA3C-40F6-B43F-51DCB45BFDD1}" dt="2026-03-28T13:41:09.661" v="196" actId="20577"/>
          <ac:spMkLst>
            <pc:docMk/>
            <pc:sldMk cId="1419116311" sldId="263"/>
            <ac:spMk id="3" creationId="{8AA99BC3-3EA9-D410-43B7-21B3DB873EEC}"/>
          </ac:spMkLst>
        </pc:spChg>
        <pc:spChg chg="mod">
          <ac:chgData name="Asha Pappusamy" userId="f3c2fbe79bd6fd85" providerId="LiveId" clId="{F80943F9-CA3C-40F6-B43F-51DCB45BFDD1}" dt="2026-03-28T13:40:53.082" v="159" actId="27636"/>
          <ac:spMkLst>
            <pc:docMk/>
            <pc:sldMk cId="1419116311" sldId="263"/>
            <ac:spMk id="4" creationId="{B0B2F144-7B8D-C4B8-9819-F96C13AC7A2C}"/>
          </ac:spMkLst>
        </pc:spChg>
      </pc:sldChg>
      <pc:sldChg chg="addSp delSp modSp new mod">
        <pc:chgData name="Asha Pappusamy" userId="f3c2fbe79bd6fd85" providerId="LiveId" clId="{F80943F9-CA3C-40F6-B43F-51DCB45BFDD1}" dt="2026-03-28T13:39:13.588" v="64" actId="255"/>
        <pc:sldMkLst>
          <pc:docMk/>
          <pc:sldMk cId="3441886529" sldId="268"/>
        </pc:sldMkLst>
        <pc:spChg chg="del">
          <ac:chgData name="Asha Pappusamy" userId="f3c2fbe79bd6fd85" providerId="LiveId" clId="{F80943F9-CA3C-40F6-B43F-51DCB45BFDD1}" dt="2026-03-28T13:37:29.090" v="56" actId="478"/>
          <ac:spMkLst>
            <pc:docMk/>
            <pc:sldMk cId="3441886529" sldId="268"/>
            <ac:spMk id="2" creationId="{2367CD21-B663-49F2-1DB1-DBB5AC31E458}"/>
          </ac:spMkLst>
        </pc:spChg>
        <pc:spChg chg="del">
          <ac:chgData name="Asha Pappusamy" userId="f3c2fbe79bd6fd85" providerId="LiveId" clId="{F80943F9-CA3C-40F6-B43F-51DCB45BFDD1}" dt="2026-03-28T13:37:06.771" v="1"/>
          <ac:spMkLst>
            <pc:docMk/>
            <pc:sldMk cId="3441886529" sldId="268"/>
            <ac:spMk id="3" creationId="{72013B3E-3894-4C6E-8544-8DC613722862}"/>
          </ac:spMkLst>
        </pc:spChg>
        <pc:spChg chg="del">
          <ac:chgData name="Asha Pappusamy" userId="f3c2fbe79bd6fd85" providerId="LiveId" clId="{F80943F9-CA3C-40F6-B43F-51DCB45BFDD1}" dt="2026-03-28T13:37:32.333" v="57" actId="478"/>
          <ac:spMkLst>
            <pc:docMk/>
            <pc:sldMk cId="3441886529" sldId="268"/>
            <ac:spMk id="4" creationId="{0F15205C-6DAC-5D17-3CA9-CFAE87C6494A}"/>
          </ac:spMkLst>
        </pc:spChg>
        <pc:spChg chg="add del mod">
          <ac:chgData name="Asha Pappusamy" userId="f3c2fbe79bd6fd85" providerId="LiveId" clId="{F80943F9-CA3C-40F6-B43F-51DCB45BFDD1}" dt="2026-03-28T13:37:26.052" v="55" actId="478"/>
          <ac:spMkLst>
            <pc:docMk/>
            <pc:sldMk cId="3441886529" sldId="268"/>
            <ac:spMk id="6" creationId="{4EEA575F-1FB7-303F-5826-9DC4C4922FFB}"/>
          </ac:spMkLst>
        </pc:spChg>
        <pc:spChg chg="add mod">
          <ac:chgData name="Asha Pappusamy" userId="f3c2fbe79bd6fd85" providerId="LiveId" clId="{F80943F9-CA3C-40F6-B43F-51DCB45BFDD1}" dt="2026-03-28T13:39:13.588" v="64" actId="255"/>
          <ac:spMkLst>
            <pc:docMk/>
            <pc:sldMk cId="3441886529" sldId="268"/>
            <ac:spMk id="7" creationId="{86BB8063-BE14-3D41-3A1E-9AB7A862F447}"/>
          </ac:spMkLst>
        </pc:spChg>
        <pc:graphicFrameChg chg="add mod modGraphic">
          <ac:chgData name="Asha Pappusamy" userId="f3c2fbe79bd6fd85" providerId="LiveId" clId="{F80943F9-CA3C-40F6-B43F-51DCB45BFDD1}" dt="2026-03-28T13:38:18.341" v="61" actId="255"/>
          <ac:graphicFrameMkLst>
            <pc:docMk/>
            <pc:sldMk cId="3441886529" sldId="268"/>
            <ac:graphicFrameMk id="5" creationId="{ECA735D1-A37B-7680-7451-7AB2303F2A7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0DB1C-D01E-8542-22D3-A2DCF5500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781" y="648929"/>
            <a:ext cx="10678344" cy="2585884"/>
          </a:xfrm>
        </p:spPr>
        <p:txBody>
          <a:bodyPr>
            <a:normAutofit/>
          </a:bodyPr>
          <a:lstStyle/>
          <a:p>
            <a:r>
              <a:rPr lang="en-US" b="1" cap="none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Resource Management in India: Industrial Workforce Analysis</a:t>
            </a:r>
            <a:br>
              <a:rPr lang="en-US" b="1" cap="none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endParaRPr lang="en-IN" b="1" cap="none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AAE51-97CB-7B75-0283-007A2FA22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1057" y="2831692"/>
            <a:ext cx="7197726" cy="2871018"/>
          </a:xfrm>
        </p:spPr>
        <p:txBody>
          <a:bodyPr>
            <a:normAutofit/>
          </a:bodyPr>
          <a:lstStyle/>
          <a:p>
            <a:r>
              <a:rPr lang="en-US" sz="3600" dirty="0"/>
              <a:t>Interactive Data Storytelling Dashboard based on Census 2011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E2E69A-37CA-C8FD-BBA7-AEB081DB85C1}"/>
              </a:ext>
            </a:extLst>
          </p:cNvPr>
          <p:cNvSpPr txBox="1"/>
          <p:nvPr/>
        </p:nvSpPr>
        <p:spPr>
          <a:xfrm>
            <a:off x="3952568" y="4670323"/>
            <a:ext cx="77183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										</a:t>
            </a:r>
            <a:r>
              <a:rPr lang="en-IN" sz="2800" dirty="0"/>
              <a:t>PRESENTED BY</a:t>
            </a:r>
          </a:p>
          <a:p>
            <a:r>
              <a:rPr lang="en-IN" sz="2800" dirty="0"/>
              <a:t>											ASHA.P</a:t>
            </a:r>
          </a:p>
        </p:txBody>
      </p:sp>
    </p:spTree>
    <p:extLst>
      <p:ext uri="{BB962C8B-B14F-4D97-AF65-F5344CB8AC3E}">
        <p14:creationId xmlns:p14="http://schemas.microsoft.com/office/powerpoint/2010/main" val="1005567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3F2AC-3AA8-FD0D-C62F-6887159CA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8261C-BFDF-524F-F49E-A6267ED25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Goal of the Project</a:t>
            </a:r>
          </a:p>
          <a:p>
            <a:r>
              <a:rPr lang="en-US" dirty="0"/>
              <a:t>To analyze the industrial workforce distribution in India using Census 2011 data.</a:t>
            </a:r>
          </a:p>
          <a:p>
            <a:r>
              <a:rPr lang="en-US" b="1" dirty="0"/>
              <a:t>Key Objectives</a:t>
            </a:r>
            <a:endParaRPr lang="en-US" dirty="0"/>
          </a:p>
          <a:p>
            <a:r>
              <a:rPr lang="en-US" dirty="0"/>
              <a:t>Understand workforce distribution across industries </a:t>
            </a:r>
          </a:p>
          <a:p>
            <a:r>
              <a:rPr lang="en-US" dirty="0"/>
              <a:t>Analyze regional employment patterns </a:t>
            </a:r>
          </a:p>
          <a:p>
            <a:r>
              <a:rPr lang="en-US" dirty="0"/>
              <a:t>Examine gender participation in the workforce </a:t>
            </a:r>
          </a:p>
          <a:p>
            <a:r>
              <a:rPr lang="en-US" dirty="0"/>
              <a:t>Generate insights for workforce planning and policy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7955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B4940-48F5-F5EC-5685-E4E822811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26142"/>
            <a:ext cx="10131425" cy="1091381"/>
          </a:xfrm>
        </p:spPr>
        <p:txBody>
          <a:bodyPr>
            <a:normAutofit/>
          </a:bodyPr>
          <a:lstStyle/>
          <a:p>
            <a:r>
              <a:rPr lang="en-IN" sz="4800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AAB68-7679-7FFD-9626-2497B1BB6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19201"/>
            <a:ext cx="10131425" cy="5496232"/>
          </a:xfrm>
        </p:spPr>
        <p:txBody>
          <a:bodyPr>
            <a:normAutofit/>
          </a:bodyPr>
          <a:lstStyle/>
          <a:p>
            <a:r>
              <a:rPr lang="en-US" sz="2800" b="1" dirty="0"/>
              <a:t>Dataset Source</a:t>
            </a:r>
            <a:endParaRPr lang="en-US" sz="2800" dirty="0"/>
          </a:p>
          <a:p>
            <a:r>
              <a:rPr lang="en-US" dirty="0"/>
              <a:t>Census of India 2011 – Industrial Workforce Classification</a:t>
            </a:r>
          </a:p>
          <a:p>
            <a:r>
              <a:rPr lang="en-US" sz="2800" b="1" dirty="0"/>
              <a:t>Dataset Features</a:t>
            </a:r>
            <a:endParaRPr lang="en-US" sz="2800" dirty="0"/>
          </a:p>
          <a:p>
            <a:r>
              <a:rPr lang="en-US" dirty="0"/>
              <a:t>State level workforce data </a:t>
            </a:r>
          </a:p>
          <a:p>
            <a:r>
              <a:rPr lang="en-US" dirty="0"/>
              <a:t>District level workforce data </a:t>
            </a:r>
          </a:p>
          <a:p>
            <a:r>
              <a:rPr lang="en-US" dirty="0"/>
              <a:t>Industry sector classification </a:t>
            </a:r>
          </a:p>
          <a:p>
            <a:r>
              <a:rPr lang="en-US" dirty="0"/>
              <a:t>Workforce categories: </a:t>
            </a:r>
          </a:p>
          <a:p>
            <a:pPr lvl="1"/>
            <a:r>
              <a:rPr lang="en-US" dirty="0"/>
              <a:t>Main Workers </a:t>
            </a:r>
          </a:p>
          <a:p>
            <a:pPr lvl="1"/>
            <a:r>
              <a:rPr lang="en-US" dirty="0"/>
              <a:t>Marginal Workers </a:t>
            </a:r>
          </a:p>
          <a:p>
            <a:pPr lvl="1"/>
            <a:r>
              <a:rPr lang="en-US" dirty="0"/>
              <a:t>Rural Workers </a:t>
            </a:r>
          </a:p>
          <a:p>
            <a:pPr lvl="1"/>
            <a:r>
              <a:rPr lang="en-US" dirty="0"/>
              <a:t>Urban Workers </a:t>
            </a:r>
          </a:p>
          <a:p>
            <a:pPr lvl="1"/>
            <a:r>
              <a:rPr lang="en-US" dirty="0"/>
              <a:t>Male &amp; Female workers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4319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D765F-E55D-51CA-5FD7-8630DA242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1875C-1440-AB52-A8B4-64098807E5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sz="3200" b="1" dirty="0"/>
              <a:t>Project Pipeline</a:t>
            </a:r>
            <a:endParaRPr lang="en-IN" sz="32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Data Collection                                   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Data Cleaning &amp; Transformation       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Data Exploration                                    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Data Visualization                                      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Interactive Dashboard Development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Insight Generation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7C23C-D6E8-7141-1ADB-DA7775FD8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1895" y="1976285"/>
            <a:ext cx="4995332" cy="3814916"/>
          </a:xfrm>
        </p:spPr>
        <p:txBody>
          <a:bodyPr/>
          <a:lstStyle/>
          <a:p>
            <a:r>
              <a:rPr lang="en-IN" sz="3200" b="1" dirty="0"/>
              <a:t>Tools Used</a:t>
            </a:r>
            <a:endParaRPr lang="en-IN" sz="32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Python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Pandas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 err="1"/>
              <a:t>Streamlit</a:t>
            </a:r>
            <a:r>
              <a:rPr lang="en-IN" dirty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Plotly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3688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D8E5F-3050-EC01-4078-A818E57AA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65472"/>
            <a:ext cx="10131425" cy="1061883"/>
          </a:xfrm>
        </p:spPr>
        <p:txBody>
          <a:bodyPr>
            <a:normAutofit/>
          </a:bodyPr>
          <a:lstStyle/>
          <a:p>
            <a:r>
              <a:rPr lang="en-US" sz="4800" dirty="0"/>
              <a:t>Major Challenges in the Dataset</a:t>
            </a:r>
            <a:endParaRPr lang="en-IN" sz="4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D6F89C-F6A8-96A3-BE0C-4C02FDCB8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022" y="2369952"/>
            <a:ext cx="10131425" cy="4109506"/>
          </a:xfrm>
        </p:spPr>
        <p:txBody>
          <a:bodyPr>
            <a:normAutofit/>
          </a:bodyPr>
          <a:lstStyle/>
          <a:p>
            <a:r>
              <a:rPr lang="en-US" b="1" dirty="0"/>
              <a:t>Key Problems</a:t>
            </a:r>
            <a:endParaRPr lang="en-US" dirty="0"/>
          </a:p>
          <a:p>
            <a:r>
              <a:rPr lang="en-US" dirty="0"/>
              <a:t>Backticks with the value columns</a:t>
            </a:r>
          </a:p>
          <a:p>
            <a:r>
              <a:rPr lang="en-US" dirty="0"/>
              <a:t>Data type change </a:t>
            </a:r>
          </a:p>
          <a:p>
            <a:r>
              <a:rPr lang="en-US" b="1" dirty="0"/>
              <a:t>Collapsed Columns (</a:t>
            </a:r>
            <a:r>
              <a:rPr lang="en-US" dirty="0"/>
              <a:t>Some rows had multiple values merged into a single column)</a:t>
            </a:r>
          </a:p>
          <a:p>
            <a:r>
              <a:rPr lang="en-US" dirty="0"/>
              <a:t>Missing industry classifications </a:t>
            </a:r>
          </a:p>
          <a:p>
            <a:r>
              <a:rPr lang="en-US" dirty="0"/>
              <a:t>District names appearing under state columns </a:t>
            </a:r>
          </a:p>
          <a:p>
            <a:r>
              <a:rPr lang="en-US" dirty="0"/>
              <a:t>Inconsistent column naming </a:t>
            </a:r>
          </a:p>
          <a:p>
            <a:r>
              <a:rPr lang="en-US" dirty="0"/>
              <a:t>These issues required extensive preprocessing.</a:t>
            </a:r>
          </a:p>
          <a:p>
            <a:r>
              <a:rPr lang="en-IN" dirty="0"/>
              <a:t>Initially it had more than 1,75,000 rows with duplicate values </a:t>
            </a:r>
          </a:p>
          <a:p>
            <a:r>
              <a:rPr lang="en-IN" dirty="0"/>
              <a:t>Minor classes also included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78B2AB-7D15-D4C7-A64D-3B3D07290115}"/>
              </a:ext>
            </a:extLst>
          </p:cNvPr>
          <p:cNvSpPr txBox="1"/>
          <p:nvPr/>
        </p:nvSpPr>
        <p:spPr>
          <a:xfrm>
            <a:off x="806245" y="1415845"/>
            <a:ext cx="100109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raw dataset had several issues that required cleaning before analysis.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62211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CA735D1-A37B-7680-7451-7AB2303F2A7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68485563"/>
              </p:ext>
            </p:extLst>
          </p:nvPr>
        </p:nvGraphicFramePr>
        <p:xfrm>
          <a:off x="784123" y="1209368"/>
          <a:ext cx="10080522" cy="5202000"/>
        </p:xfrm>
        <a:graphic>
          <a:graphicData uri="http://schemas.openxmlformats.org/drawingml/2006/table">
            <a:tbl>
              <a:tblPr/>
              <a:tblGrid>
                <a:gridCol w="5040261">
                  <a:extLst>
                    <a:ext uri="{9D8B030D-6E8A-4147-A177-3AD203B41FA5}">
                      <a16:colId xmlns:a16="http://schemas.microsoft.com/office/drawing/2014/main" val="236077923"/>
                    </a:ext>
                  </a:extLst>
                </a:gridCol>
                <a:gridCol w="5040261">
                  <a:extLst>
                    <a:ext uri="{9D8B030D-6E8A-4147-A177-3AD203B41FA5}">
                      <a16:colId xmlns:a16="http://schemas.microsoft.com/office/drawing/2014/main" val="1752845588"/>
                    </a:ext>
                  </a:extLst>
                </a:gridCol>
              </a:tblGrid>
              <a:tr h="29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NIC Industry Name (</a:t>
                      </a:r>
                      <a:r>
                        <a:rPr lang="en-US" sz="2400" dirty="0" err="1">
                          <a:latin typeface="Courier New" panose="02070309020205020404" pitchFamily="49" charset="0"/>
                        </a:rPr>
                        <a:t>nic_name</a:t>
                      </a:r>
                      <a:r>
                        <a:rPr lang="en-US" sz="2400" dirty="0"/>
                        <a:t>)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Macro Sector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009706"/>
                  </a:ext>
                </a:extLst>
              </a:tr>
              <a:tr h="29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Agriculture, forestry and fishing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Agriculture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104846"/>
                  </a:ext>
                </a:extLst>
              </a:tr>
              <a:tr h="29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Mining and quarrying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Mining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250475"/>
                  </a:ext>
                </a:extLst>
              </a:tr>
              <a:tr h="29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Manufacture of textiles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Manufacturing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230856"/>
                  </a:ext>
                </a:extLst>
              </a:tr>
              <a:tr h="29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Manufacture of food products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Manufacturing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27452"/>
                  </a:ext>
                </a:extLst>
              </a:tr>
              <a:tr h="29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Electricity, gas, steam and air conditioning supply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Utilities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454342"/>
                  </a:ext>
                </a:extLst>
              </a:tr>
              <a:tr h="29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Water supply; sewerage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Utilities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457928"/>
                  </a:ext>
                </a:extLst>
              </a:tr>
              <a:tr h="29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Construction of buildings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Construction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91530"/>
                  </a:ext>
                </a:extLst>
              </a:tr>
              <a:tr h="29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Wholesale and retail trade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Trade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621583"/>
                  </a:ext>
                </a:extLst>
              </a:tr>
              <a:tr h="29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Transportation and storage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Transport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213474"/>
                  </a:ext>
                </a:extLst>
              </a:tr>
              <a:tr h="29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Accommodation and food service activities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Services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50926"/>
                  </a:ext>
                </a:extLst>
              </a:tr>
              <a:tr h="29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Information and communication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Services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29969"/>
                  </a:ext>
                </a:extLst>
              </a:tr>
              <a:tr h="29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Financial and insurance activities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Services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014749"/>
                  </a:ext>
                </a:extLst>
              </a:tr>
              <a:tr h="29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Education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Services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027152"/>
                  </a:ext>
                </a:extLst>
              </a:tr>
              <a:tr h="29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Human health and social work activities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Services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450255"/>
                  </a:ext>
                </a:extLst>
              </a:tr>
              <a:tr h="29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Other service activities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Services</a:t>
                      </a:r>
                    </a:p>
                  </a:txBody>
                  <a:tcPr marL="45090" marR="45090" marT="22545" marB="22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76690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BB8063-BE14-3D41-3A1E-9AB7A862F447}"/>
              </a:ext>
            </a:extLst>
          </p:cNvPr>
          <p:cNvSpPr txBox="1"/>
          <p:nvPr/>
        </p:nvSpPr>
        <p:spPr>
          <a:xfrm>
            <a:off x="393290" y="137652"/>
            <a:ext cx="107368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Industry Categorization</a:t>
            </a:r>
          </a:p>
        </p:txBody>
      </p:sp>
    </p:spTree>
    <p:extLst>
      <p:ext uri="{BB962C8B-B14F-4D97-AF65-F5344CB8AC3E}">
        <p14:creationId xmlns:p14="http://schemas.microsoft.com/office/powerpoint/2010/main" val="3441886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51D22-C9BD-8AAC-AEC7-0A6D899FA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45807"/>
            <a:ext cx="10131425" cy="1052051"/>
          </a:xfrm>
        </p:spPr>
        <p:txBody>
          <a:bodyPr>
            <a:normAutofit/>
          </a:bodyPr>
          <a:lstStyle/>
          <a:p>
            <a:r>
              <a:rPr lang="en-IN" sz="4400" dirty="0"/>
              <a:t>Data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99BC3-3EA9-D410-43B7-21B3DB873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1" y="1366684"/>
            <a:ext cx="5970637" cy="5083277"/>
          </a:xfrm>
          <a:prstGeom prst="flowChartTerminator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r>
              <a:rPr lang="en-US" sz="2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After cleaning, new metrics were created.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Total Workers 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Main Workers - Total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Marginal Workers  - Total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State name, District name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Urban Workforce &amp; Rural Workforce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Industry sector &amp; Macro Sector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This helped simplify analysis and visualizations.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2F144-7B8D-C4B8-9819-F96C13AC7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25265" y="1366685"/>
            <a:ext cx="5279922" cy="4424516"/>
          </a:xfrm>
          <a:prstGeom prst="octagon">
            <a:avLst/>
          </a:prstGeom>
          <a:solidFill>
            <a:schemeClr val="accent5">
              <a:alpha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r>
              <a:rPr lang="en-US" sz="4400" dirty="0"/>
              <a:t>Libraries used:</a:t>
            </a:r>
          </a:p>
          <a:p>
            <a:r>
              <a:rPr lang="en-US" sz="4400" dirty="0"/>
              <a:t>Python</a:t>
            </a:r>
          </a:p>
          <a:p>
            <a:r>
              <a:rPr lang="en-IN" sz="4400" dirty="0"/>
              <a:t>Pandas</a:t>
            </a:r>
          </a:p>
        </p:txBody>
      </p:sp>
    </p:spTree>
    <p:extLst>
      <p:ext uri="{BB962C8B-B14F-4D97-AF65-F5344CB8AC3E}">
        <p14:creationId xmlns:p14="http://schemas.microsoft.com/office/powerpoint/2010/main" val="1419116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5613B-20B5-E087-7E7F-B417267EA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142" y="176981"/>
            <a:ext cx="10933983" cy="889820"/>
          </a:xfrm>
        </p:spPr>
        <p:txBody>
          <a:bodyPr/>
          <a:lstStyle/>
          <a:p>
            <a:pPr algn="ctr"/>
            <a:r>
              <a:rPr lang="en-IN" dirty="0"/>
              <a:t>Visualizations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39BA38-E091-E013-D37C-DB828FB48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142" y="1248698"/>
            <a:ext cx="11061290" cy="5309418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Different visualization techniques were used to </a:t>
            </a:r>
            <a:r>
              <a:rPr lang="en-IN" dirty="0" err="1"/>
              <a:t>analyze</a:t>
            </a:r>
            <a:endParaRPr lang="en-IN" dirty="0"/>
          </a:p>
          <a:p>
            <a:pPr algn="l"/>
            <a:r>
              <a:rPr lang="en-IN" dirty="0"/>
              <a:t> the data.</a:t>
            </a:r>
          </a:p>
          <a:p>
            <a:pPr algn="l"/>
            <a:r>
              <a:rPr lang="en-IN" sz="3200" b="1" dirty="0"/>
              <a:t>Charts</a:t>
            </a:r>
          </a:p>
          <a:p>
            <a:pPr algn="l"/>
            <a:r>
              <a:rPr lang="en-IN" dirty="0"/>
              <a:t>Stacked Bar Chart → Workforce comparison </a:t>
            </a:r>
          </a:p>
          <a:p>
            <a:pPr algn="l"/>
            <a:r>
              <a:rPr lang="en-IN" dirty="0"/>
              <a:t>Sunburst Chart → Industry sector hierarchy </a:t>
            </a:r>
          </a:p>
          <a:p>
            <a:pPr algn="l"/>
            <a:r>
              <a:rPr lang="en-IN" dirty="0" err="1"/>
              <a:t>Treemap</a:t>
            </a:r>
            <a:r>
              <a:rPr lang="en-IN" dirty="0"/>
              <a:t> → Regional workforce distribution </a:t>
            </a:r>
          </a:p>
          <a:p>
            <a:pPr algn="l"/>
            <a:r>
              <a:rPr lang="en-IN" dirty="0"/>
              <a:t>Workforce Metrics → Overall employment overview</a:t>
            </a:r>
          </a:p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072861-93FA-A182-F5C7-531828C22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529" y="1330898"/>
            <a:ext cx="2989006" cy="2486220"/>
          </a:xfrm>
          <a:prstGeom prst="ellipse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3490B-B5D2-300F-D765-48FA5E190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169" y="926690"/>
            <a:ext cx="3039613" cy="27137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1CED5E-21BD-61B9-585F-B63AF4B0F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33" y="4283992"/>
            <a:ext cx="11533238" cy="235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518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DFF0-7FF6-10E5-1E26-B976C39D4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/>
              <a:t>Dashboard Development</a:t>
            </a:r>
            <a:br>
              <a:rPr lang="en-US" b="1" dirty="0"/>
            </a:br>
            <a:r>
              <a:rPr lang="en-US" dirty="0"/>
              <a:t>An interactive dashboard was created using</a:t>
            </a:r>
            <a:br>
              <a:rPr lang="en-US" dirty="0"/>
            </a:br>
            <a:r>
              <a:rPr lang="en-US" dirty="0" err="1"/>
              <a:t>Streamlit</a:t>
            </a:r>
            <a:r>
              <a:rPr lang="en-US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935A0-C75F-7782-A07F-032085CB7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802193"/>
            <a:ext cx="10131425" cy="380508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b="1" dirty="0"/>
              <a:t>Features</a:t>
            </a:r>
            <a:endParaRPr lang="en-US" sz="3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Interactive state filter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District level filtering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Dynamic charts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Insight-based storytelling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Charts were built using</a:t>
            </a:r>
            <a:br>
              <a:rPr lang="en-US" sz="3600" dirty="0"/>
            </a:br>
            <a:r>
              <a:rPr lang="en-US" sz="3600" dirty="0"/>
              <a:t>Plotly.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430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4C938-66D8-63EA-6B80-4DAEC1BC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3E63D-CD02-A006-FF47-F51F68F16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337391"/>
          </a:xfrm>
        </p:spPr>
        <p:txBody>
          <a:bodyPr>
            <a:normAutofit/>
          </a:bodyPr>
          <a:lstStyle/>
          <a:p>
            <a:r>
              <a:rPr lang="en-US" sz="3600" b="1" dirty="0"/>
              <a:t>Major Observations</a:t>
            </a:r>
            <a:endParaRPr lang="en-US" sz="36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Industrial workforce is concentrated in a few states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Manufacturing and production sectors dominate employment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Urban regions show higher industrial participation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Female workforce participation is significantly lower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30932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5D6C-FE3D-D9B9-4810-FE60EE14D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304800"/>
            <a:ext cx="7543801" cy="571893"/>
          </a:xfrm>
        </p:spPr>
        <p:txBody>
          <a:bodyPr>
            <a:noAutofit/>
          </a:bodyPr>
          <a:lstStyle/>
          <a:p>
            <a:r>
              <a:rPr lang="en-IN" sz="4000" dirty="0"/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F79D2-232A-C695-8585-2573EBFBF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0676" y="763571"/>
            <a:ext cx="4581150" cy="5637886"/>
          </a:xfrm>
        </p:spPr>
        <p:txBody>
          <a:bodyPr>
            <a:normAutofit/>
          </a:bodyPr>
          <a:lstStyle/>
          <a:p>
            <a:r>
              <a:rPr lang="en-IN" sz="3600" dirty="0"/>
              <a:t>Technology Stack</a:t>
            </a:r>
          </a:p>
          <a:p>
            <a:r>
              <a:rPr lang="en-US" sz="3600" dirty="0"/>
              <a:t>Tools used in this project:</a:t>
            </a:r>
          </a:p>
          <a:p>
            <a:r>
              <a:rPr lang="en-US" sz="3000" dirty="0"/>
              <a:t>Programming  - Python </a:t>
            </a:r>
          </a:p>
          <a:p>
            <a:r>
              <a:rPr lang="en-US" sz="3000" dirty="0"/>
              <a:t>Data Processing - Pandas </a:t>
            </a:r>
          </a:p>
          <a:p>
            <a:r>
              <a:rPr lang="en-US" sz="3000" dirty="0"/>
              <a:t>Visualization - Plotly </a:t>
            </a:r>
          </a:p>
          <a:p>
            <a:r>
              <a:rPr lang="en-US" sz="3000" dirty="0"/>
              <a:t>Dashboard - </a:t>
            </a:r>
            <a:r>
              <a:rPr lang="en-US" sz="3000" dirty="0" err="1"/>
              <a:t>Streamlit</a:t>
            </a:r>
            <a:r>
              <a:rPr lang="en-US" sz="3000" dirty="0"/>
              <a:t> </a:t>
            </a:r>
          </a:p>
          <a:p>
            <a:r>
              <a:rPr lang="en-US" sz="3000" dirty="0"/>
              <a:t>Version Control - GitHub</a:t>
            </a:r>
          </a:p>
          <a:p>
            <a:endParaRPr lang="en-IN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4D5303-3E14-40D4-63C8-48C2FEEEF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1276" y="1082040"/>
            <a:ext cx="6629400" cy="4693920"/>
          </a:xfrm>
        </p:spPr>
        <p:txBody>
          <a:bodyPr>
            <a:normAutofit/>
          </a:bodyPr>
          <a:lstStyle/>
          <a:p>
            <a:r>
              <a:rPr lang="en-US" sz="2400" dirty="0"/>
              <a:t>Based on the analysis:</a:t>
            </a:r>
          </a:p>
          <a:p>
            <a:r>
              <a:rPr lang="en-US" sz="2400" b="1" dirty="0"/>
              <a:t>Recommendations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Encourage industrial development in emerging states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Promote diversification across industries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Increase female workforce participation programs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Improve infrastructure for rural industrial growth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5163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4561-DE38-4F81-F1B6-412E9AC26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cap="none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D7E24-2D6E-9F36-FA5D-F809369F379D}"/>
              </a:ext>
            </a:extLst>
          </p:cNvPr>
          <p:cNvSpPr txBox="1"/>
          <p:nvPr/>
        </p:nvSpPr>
        <p:spPr>
          <a:xfrm>
            <a:off x="685801" y="2065866"/>
            <a:ext cx="1105092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Key Takeaways:</a:t>
            </a:r>
            <a:endParaRPr lang="en-US" sz="4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4000" dirty="0"/>
              <a:t>Data cleaning is critical for reliable analysis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4000" dirty="0"/>
              <a:t>Interactive dashboards improve data exploration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4000" dirty="0"/>
              <a:t>Insights can guide workforce and industrial policies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0219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{4E2908A8-D4A8-4BC5-AA12-AD2AA316CD2C}TFb5ae2469-0bae-4978-b0e0-39dd046150ff9a115ede-a9c3cc5252b0</Template>
  <TotalTime>64</TotalTime>
  <Words>535</Words>
  <Application>Microsoft Office PowerPoint</Application>
  <PresentationFormat>Widescreen</PresentationFormat>
  <Paragraphs>135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Wingdings</vt:lpstr>
      <vt:lpstr>Celestial</vt:lpstr>
      <vt:lpstr>Resource Management in India: Industrial Workforce Analysis </vt:lpstr>
      <vt:lpstr>Project Objective</vt:lpstr>
      <vt:lpstr>Dataset Overview</vt:lpstr>
      <vt:lpstr>Project Workflow</vt:lpstr>
      <vt:lpstr>Major Challenges in the Dataset</vt:lpstr>
      <vt:lpstr>PowerPoint Presentation</vt:lpstr>
      <vt:lpstr>Data Transformation</vt:lpstr>
      <vt:lpstr>Visualizations Used</vt:lpstr>
      <vt:lpstr>Dashboard Development An interactive dashboard was created using Streamlit.</vt:lpstr>
      <vt:lpstr>Key Insights</vt:lpstr>
      <vt:lpstr>Strategic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Asha Pappusamy</dc:creator>
  <cp:lastModifiedBy>Asha Pappusamy</cp:lastModifiedBy>
  <cp:revision>1</cp:revision>
  <dcterms:created xsi:type="dcterms:W3CDTF">2026-03-28T11:57:56Z</dcterms:created>
  <dcterms:modified xsi:type="dcterms:W3CDTF">2026-03-28T13:41:28Z</dcterms:modified>
</cp:coreProperties>
</file>